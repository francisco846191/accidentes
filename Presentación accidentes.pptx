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Plus Jakarta Sans"/>
      <p:bold r:id="rId1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4430017"/>
            <a:ext cx="10668000" cy="723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2000" y="1746944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62000" y="4430017"/>
            <a:ext cx="106680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486025" y="4796730"/>
            <a:ext cx="9525" cy="3048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705350" y="4796730"/>
            <a:ext cx="9525" cy="3048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2000" y="2132707"/>
            <a:ext cx="9101137" cy="11391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sz="3900" b="1" i="0" u="none">
                <a:solidFill>
                  <a:srgbClr val="FFFFFF"/>
                </a:solidFill>
                <a:latin typeface="Plus Jakarta Sans"/>
              </a:rPr>
              <a:t>Análisis de Siniestralidad Vial en Madrid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3462337"/>
            <a:ext cx="7239000" cy="586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sz="1650" b="0" i="0" u="none">
                <a:solidFill>
                  <a:srgbClr val="94A3B8"/>
                </a:solidFill>
                <a:latin typeface="Plus Jakarta Sans"/>
              </a:rPr>
              <a:t>Estudio exploratorio de franjas horarias, gravedad de lesiones y factores determinantes con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600" y="1704082"/>
            <a:ext cx="414932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60A5FA"/>
                </a:solidFill>
                <a:latin typeface="Plus Jakarta Sans"/>
              </a:rPr>
              <a:t>CIENCIA DE DATOS &amp; SEGURIDAD VIAL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4744342"/>
            <a:ext cx="1774031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Dataset Evaluado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4953892"/>
            <a:ext cx="177403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E2E8F0"/>
                </a:solidFill>
                <a:latin typeface="Plus Jakarta Sans"/>
              </a:rPr>
              <a:t>49.340 Accidentes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00350" y="4744342"/>
            <a:ext cx="20002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Modelo Predictivo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0350" y="4953892"/>
            <a:ext cx="20002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E2E8F0"/>
                </a:solidFill>
                <a:latin typeface="Plus Jakarta Sans"/>
              </a:rPr>
              <a:t>AlcoholLogisticModel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19675" y="4744342"/>
            <a:ext cx="2250281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Ámbito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19675" y="4953892"/>
            <a:ext cx="225028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E2E8F0"/>
                </a:solidFill>
                <a:latin typeface="Plus Jakarta Sans"/>
              </a:rPr>
              <a:t>Ayuntamiento de Madrid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495550"/>
            <a:ext cx="2571750" cy="2781300"/>
          </a:xfrm>
          <a:prstGeom prst="roundRect">
            <a:avLst>
              <a:gd name="adj" fmla="val 592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409950" y="2495550"/>
            <a:ext cx="2571750" cy="2781300"/>
          </a:xfrm>
          <a:prstGeom prst="roundRect">
            <a:avLst>
              <a:gd name="adj" fmla="val 592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10300" y="2495550"/>
            <a:ext cx="2571750" cy="2781300"/>
          </a:xfrm>
          <a:prstGeom prst="roundRect">
            <a:avLst>
              <a:gd name="adj" fmla="val 592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010650" y="2495550"/>
            <a:ext cx="2571750" cy="2781300"/>
          </a:xfrm>
          <a:prstGeom prst="roundRect">
            <a:avLst>
              <a:gd name="adj" fmla="val 592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2809875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8075" y="2809875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8425" y="2809875"/>
            <a:ext cx="457200" cy="4572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48775" y="2809875"/>
            <a:ext cx="457200" cy="4572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7262" y="2943225"/>
            <a:ext cx="238125" cy="190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81425" y="2943225"/>
            <a:ext cx="190500" cy="190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91300" y="2943225"/>
            <a:ext cx="171450" cy="1905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82125" y="2943225"/>
            <a:ext cx="190500" cy="1905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VISIÓN GENERAL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Resumen Ejecutivo de la Investigación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725" y="3457575"/>
            <a:ext cx="2619375" cy="533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0F172A"/>
                </a:solidFill>
                <a:latin typeface="Plus Jakarta Sans"/>
              </a:rPr>
              <a:t>49.340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725" y="4067175"/>
            <a:ext cx="2750343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Plus Jakarta Sans"/>
              </a:rPr>
              <a:t>Registros Procesados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725" y="4362450"/>
            <a:ext cx="21907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64748B"/>
                </a:solidFill>
                <a:latin typeface="Plus Jakarta Sans"/>
              </a:rPr>
              <a:t>Siniestros registrados en la red vial urbana durante el periodo evaluado.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48075" y="3457575"/>
            <a:ext cx="2619375" cy="533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0F172A"/>
                </a:solidFill>
                <a:latin typeface="Plus Jakarta Sans"/>
              </a:rPr>
              <a:t>24h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48075" y="4067175"/>
            <a:ext cx="2750343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Plus Jakarta Sans"/>
              </a:rPr>
              <a:t>Patrón Temporal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48075" y="4362450"/>
            <a:ext cx="21907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64748B"/>
                </a:solidFill>
                <a:latin typeface="Plus Jakarta Sans"/>
              </a:rPr>
              <a:t>Mayor volumen en horas punta; severidad máxima en franja nocturna.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8425" y="3457575"/>
            <a:ext cx="2619375" cy="533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0F172A"/>
                </a:solidFill>
                <a:latin typeface="Plus Jakarta Sans"/>
              </a:rPr>
              <a:t>27.344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8425" y="4067175"/>
            <a:ext cx="2750343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Plus Jakarta Sans"/>
              </a:rPr>
              <a:t>Asistencias Médicas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8425" y="4362450"/>
            <a:ext cx="21907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64748B"/>
                </a:solidFill>
                <a:latin typeface="Plus Jakarta Sans"/>
              </a:rPr>
              <a:t>Víctimas registradas con código formal de lesividad en el siniestro.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48775" y="3457575"/>
            <a:ext cx="2619375" cy="533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0F172A"/>
                </a:solidFill>
                <a:latin typeface="Plus Jakarta Sans"/>
              </a:rPr>
              <a:t>18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48775" y="4067175"/>
            <a:ext cx="2750343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Plus Jakarta Sans"/>
              </a:rPr>
              <a:t>Variables Clave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48775" y="4362450"/>
            <a:ext cx="21907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64748B"/>
                </a:solidFill>
                <a:latin typeface="Plus Jakarta Sans"/>
              </a:rPr>
              <a:t>Factores predictivos utilizados en el modelo de regresión logística.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614612"/>
            <a:ext cx="2600325" cy="2581275"/>
          </a:xfrm>
          <a:prstGeom prst="roundRect">
            <a:avLst>
              <a:gd name="adj" fmla="val 442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400425" y="2614612"/>
            <a:ext cx="2600325" cy="2581275"/>
          </a:xfrm>
          <a:prstGeom prst="roundRect">
            <a:avLst>
              <a:gd name="adj" fmla="val 442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91250" y="2614612"/>
            <a:ext cx="2600325" cy="2581275"/>
          </a:xfrm>
          <a:prstGeom prst="roundRect">
            <a:avLst>
              <a:gd name="adj" fmla="val 442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982075" y="2614612"/>
            <a:ext cx="2600325" cy="2581275"/>
          </a:xfrm>
          <a:prstGeom prst="roundRect">
            <a:avLst>
              <a:gd name="adj" fmla="val 442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00100" y="2881312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590925" y="2881312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381750" y="2881312"/>
            <a:ext cx="2219325" cy="2047875"/>
          </a:xfrm>
          <a:prstGeom prst="roundRect">
            <a:avLst>
              <a:gd name="adj" fmla="val 558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172575" y="2881312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572250" y="3148012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INGENIERÍA DE DATOS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Procesamiento y Depuración del Dataset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7225" y="2881312"/>
            <a:ext cx="55245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 u="none">
                <a:solidFill>
                  <a:srgbClr val="FFFFFF"/>
                </a:solidFill>
                <a:latin typeface="Plus Jakarta San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" y="3300412"/>
            <a:ext cx="2912864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Estandarización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" y="3595687"/>
            <a:ext cx="2314575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Corrección de caracteres codificados y corrección de nombres en encabezados.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48050" y="2881312"/>
            <a:ext cx="55245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 u="none">
                <a:solidFill>
                  <a:srgbClr val="FFFFFF"/>
                </a:solidFill>
                <a:latin typeface="Plus Jakarta San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90925" y="3300412"/>
            <a:ext cx="2912864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Conversión de Tipos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90925" y="3595687"/>
            <a:ext cx="2314575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Casteo numérico de códigos UTM y estructuración de la variable hora (HH:MM).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29700" y="2881312"/>
            <a:ext cx="55245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 u="none">
                <a:solidFill>
                  <a:srgbClr val="FFFFFF"/>
                </a:solidFill>
                <a:latin typeface="Plus Jakarta San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72575" y="3300412"/>
            <a:ext cx="2912864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Depuración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72575" y="3595687"/>
            <a:ext cx="2314575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Eliminación de la columna 'positiva_droga' por ausencia masiva de datos (99,5%).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9375" y="3148012"/>
            <a:ext cx="552450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 u="none">
                <a:solidFill>
                  <a:srgbClr val="FFFFFF"/>
                </a:solidFill>
                <a:latin typeface="Plus Jakarta San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72250" y="3567112"/>
            <a:ext cx="2412801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Imputación de Nulos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72250" y="3862387"/>
            <a:ext cx="1933575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Categorización de 'Desconocido' en 5.916 registros sin estado meteorológico.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481262"/>
            <a:ext cx="6598890" cy="2771775"/>
          </a:xfrm>
          <a:prstGeom prst="roundRect">
            <a:avLst>
              <a:gd name="adj" fmla="val 549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551390" y="2457450"/>
            <a:ext cx="4031009" cy="13335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551390" y="3943350"/>
            <a:ext cx="4031009" cy="13335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551390" y="3781425"/>
            <a:ext cx="403100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551390" y="2457450"/>
            <a:ext cx="403100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551390" y="2457450"/>
            <a:ext cx="38100" cy="13335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572875" y="2457450"/>
            <a:ext cx="9525" cy="13335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551390" y="5267325"/>
            <a:ext cx="403100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551390" y="3943350"/>
            <a:ext cx="403100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551390" y="3943350"/>
            <a:ext cx="38100" cy="13335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1572875" y="3943350"/>
            <a:ext cx="9525" cy="13335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85825" y="3376612"/>
            <a:ext cx="6046440" cy="1143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85825" y="3871912"/>
            <a:ext cx="6046440" cy="1143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85825" y="4367212"/>
            <a:ext cx="6046440" cy="1143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85825" y="4862512"/>
            <a:ext cx="6046440" cy="1143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85825" y="3376612"/>
            <a:ext cx="1692919" cy="114300"/>
          </a:xfrm>
          <a:prstGeom prst="roundRect">
            <a:avLst>
              <a:gd name="adj" fmla="val 50000"/>
            </a:avLst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85825" y="3871912"/>
            <a:ext cx="3930104" cy="1143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85825" y="4367212"/>
            <a:ext cx="5139332" cy="1143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85825" y="4862512"/>
            <a:ext cx="4232374" cy="1143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DISTRIBUCIÓN TEMPORAL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Incidencia de Siniestros por Franja Horaria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5825" y="2757487"/>
            <a:ext cx="793595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Volumen Comparativo de Accidentes por Intervalo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18090" y="2695575"/>
            <a:ext cx="4373909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Franja Crítica de Lesividad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8090" y="2952750"/>
            <a:ext cx="3621434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Los accidentes ocurridos entre las 00:00 y las 06:00 registran un porcentaje significativamente superior de ingresos hospitalarios.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18090" y="4181475"/>
            <a:ext cx="4373909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Franja de Alta Densidad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18090" y="4438650"/>
            <a:ext cx="3621434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Las horas de salida laboral de mediodía (14:00-16:00) acumulan el mayor número total de colisiones urbanas leves.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5825" y="3148012"/>
            <a:ext cx="22383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34155"/>
                </a:solidFill>
                <a:latin typeface="Plus Jakarta Sans"/>
              </a:rPr>
              <a:t>00:00 - 06:00 (Madrugada)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32040" y="3148012"/>
            <a:ext cx="2250281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34155"/>
                </a:solidFill>
                <a:latin typeface="Plus Jakarta Sans"/>
              </a:rPr>
              <a:t>12% del total | Gravedad Alta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5825" y="3643312"/>
            <a:ext cx="226218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34155"/>
                </a:solidFill>
                <a:latin typeface="Plus Jakarta Sans"/>
              </a:rPr>
              <a:t>07:00 - 10:00 (Pico Mañana)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36790" y="3643312"/>
            <a:ext cx="2369343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34155"/>
                </a:solidFill>
                <a:latin typeface="Plus Jakarta Sans"/>
              </a:rPr>
              <a:t>26% del total | Gravedad Leve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5825" y="4138612"/>
            <a:ext cx="230981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34155"/>
                </a:solidFill>
                <a:latin typeface="Plus Jakarta Sans"/>
              </a:rPr>
              <a:t>14:00 - 16:00 (Pico Mediodía)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22490" y="4138612"/>
            <a:ext cx="2512218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34155"/>
                </a:solidFill>
                <a:latin typeface="Plus Jakarta Sans"/>
              </a:rPr>
              <a:t>34% del total | Volumen Máximo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5825" y="4633912"/>
            <a:ext cx="2012156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34155"/>
                </a:solidFill>
                <a:latin typeface="Plus Jakarta Sans"/>
              </a:rPr>
              <a:t>18:00 - 21:00 (Pico Tarde)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93890" y="4633912"/>
            <a:ext cx="2797968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34155"/>
                </a:solidFill>
                <a:latin typeface="Plus Jakarta Sans"/>
              </a:rPr>
              <a:t>28% del total | Gravedad Moderada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819400"/>
            <a:ext cx="3492549" cy="2133600"/>
          </a:xfrm>
          <a:prstGeom prst="roundRect">
            <a:avLst>
              <a:gd name="adj" fmla="val 714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30749" y="2819400"/>
            <a:ext cx="3530649" cy="2133600"/>
          </a:xfrm>
          <a:prstGeom prst="roundRect">
            <a:avLst>
              <a:gd name="adj" fmla="val 7142"/>
            </a:avLst>
          </a:prstGeom>
          <a:solidFill>
            <a:srgbClr val="F8FAFC"/>
          </a:solidFill>
          <a:ln w="19050">
            <a:solidFill>
              <a:srgbClr val="FE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89999" y="2819400"/>
            <a:ext cx="3492549" cy="2133600"/>
          </a:xfrm>
          <a:prstGeom prst="roundRect">
            <a:avLst>
              <a:gd name="adj" fmla="val 714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4674" y="3148012"/>
            <a:ext cx="142875" cy="228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1998" y="3128962"/>
            <a:ext cx="285750" cy="228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INVOLUCRADOS Y LESIONES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Gravedad según el Tipo de Persona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514725"/>
            <a:ext cx="3603687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2563EB"/>
                </a:solidFill>
                <a:latin typeface="Plus Jakarta Sans"/>
              </a:rPr>
              <a:t>72%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010025"/>
            <a:ext cx="2978199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Mayor volumen global de implicados en expedientes. Predominio de asistencia sanitaria en el lugar del accidente.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54599" y="3533775"/>
            <a:ext cx="3603687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E11D48"/>
                </a:solidFill>
                <a:latin typeface="Plus Jakarta Sans"/>
              </a:rPr>
              <a:t>Máxima Lesividad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54599" y="4029075"/>
            <a:ext cx="2978199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Mayor tasa de hospitalización prolongada e ingresos de urgencia tras atropello en vías urbanas.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94799" y="3514725"/>
            <a:ext cx="3603687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284C7"/>
                </a:solidFill>
                <a:latin typeface="Plus Jakarta Sans"/>
              </a:rPr>
              <a:t>18%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4799" y="4010025"/>
            <a:ext cx="2978199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Afectación secundaria. Prevalencia de lesiones leves sin necesidad de traslado hospitalario inmediato.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124200"/>
            <a:ext cx="1587698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Conductores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54599" y="3143250"/>
            <a:ext cx="1220152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Peatones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4799" y="3124200"/>
            <a:ext cx="1230153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Pasajeros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602706"/>
            <a:ext cx="5223123" cy="2566987"/>
          </a:xfrm>
          <a:prstGeom prst="roundRect">
            <a:avLst>
              <a:gd name="adj" fmla="val 5936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137523" y="2319337"/>
            <a:ext cx="5444876" cy="942975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37523" y="3414712"/>
            <a:ext cx="5444876" cy="942975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137523" y="4510087"/>
            <a:ext cx="5444876" cy="942975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5648" y="2562225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5648" y="3657600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5648" y="4752975"/>
            <a:ext cx="457200" cy="4572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8998" y="2695575"/>
            <a:ext cx="190500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5185" y="3790950"/>
            <a:ext cx="238125" cy="190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85185" y="4886325"/>
            <a:ext cx="238125" cy="1905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FACTORES DE RIESGO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Pruebas de Alcoholemia y Tipo de Vehículo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2500" y="3136106"/>
            <a:ext cx="5955236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FFFFF"/>
                </a:solidFill>
                <a:latin typeface="Plus Jakarta Sans"/>
              </a:rPr>
              <a:t>Incidencia de Alcohol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2500" y="3450431"/>
            <a:ext cx="5671653" cy="581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F43F5E"/>
                </a:solidFill>
                <a:latin typeface="Plus Jakarta Sans"/>
              </a:rPr>
              <a:t>Factor Crítico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2500" y="4183856"/>
            <a:ext cx="4632573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Plus Jakarta Sans"/>
              </a:rPr>
              <a:t>Las pruebas positivas en alcoholemia se concentran exponencialmente durante los fines de semana en la franja de 00:00 a 06:00 horas.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23348" y="2519362"/>
            <a:ext cx="516865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Turismos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23348" y="2719387"/>
            <a:ext cx="4416176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Representan el mayor volumen total de pruebas de alcoholemia realizadas en colisiones.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23348" y="3614737"/>
            <a:ext cx="516865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Motocicletas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23348" y="3814762"/>
            <a:ext cx="4416176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Presentan una mayor proporción de severidad médica aun en bajas velocidades urbanas.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23348" y="4710112"/>
            <a:ext cx="516865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Bicicletas y VMP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23348" y="4910137"/>
            <a:ext cx="4416176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Siniestros concentrados en vías del distrito Centro con alta convivencia peatonal.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486025"/>
            <a:ext cx="5372100" cy="1285875"/>
          </a:xfrm>
          <a:prstGeom prst="roundRect">
            <a:avLst>
              <a:gd name="adj" fmla="val 888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10300" y="2486025"/>
            <a:ext cx="5372100" cy="1285875"/>
          </a:xfrm>
          <a:prstGeom prst="roundRect">
            <a:avLst>
              <a:gd name="adj" fmla="val 888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4000500"/>
            <a:ext cx="5372100" cy="1285875"/>
          </a:xfrm>
          <a:prstGeom prst="roundRect">
            <a:avLst>
              <a:gd name="adj" fmla="val 888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10300" y="4000500"/>
            <a:ext cx="5372100" cy="1285875"/>
          </a:xfrm>
          <a:prstGeom prst="roundRect">
            <a:avLst>
              <a:gd name="adj" fmla="val 888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2776537"/>
            <a:ext cx="190500" cy="190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6525" y="2776537"/>
            <a:ext cx="190500" cy="190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825" y="4291012"/>
            <a:ext cx="190500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6525" y="4291012"/>
            <a:ext cx="238125" cy="190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ENTORNO URBANO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Meteorología y Tipos de Colisión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5825" y="3095625"/>
            <a:ext cx="49149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Concentra más del 85% de los accidentes debido a la alta densidad de circulación diaria en Madrid.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6525" y="3095625"/>
            <a:ext cx="49149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Incrementa significativamente las colisiones por alcance tras el aumento de la distancia de frenado.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5825" y="4610100"/>
            <a:ext cx="49149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Tipología más recurrente en cruces regulados por semáforos dentro de la almendra central.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6525" y="4610100"/>
            <a:ext cx="49149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Representan la principal causa de lesividad grave con traslado a centro hospitalario.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90625" y="2762250"/>
            <a:ext cx="206275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Tiempo Despejado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91325" y="2762250"/>
            <a:ext cx="130016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Lluvia Débil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90625" y="4276725"/>
            <a:ext cx="2575321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Colisión Fronto-Lateral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38950" y="4276725"/>
            <a:ext cx="2387798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Atropellos a Peatones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328862"/>
            <a:ext cx="5334000" cy="3076575"/>
          </a:xfrm>
          <a:prstGeom prst="roundRect">
            <a:avLst>
              <a:gd name="adj" fmla="val 495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8400" y="2845593"/>
            <a:ext cx="5334000" cy="2043112"/>
          </a:xfrm>
          <a:prstGeom prst="roundRect">
            <a:avLst>
              <a:gd name="adj" fmla="val 745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85825" y="3014662"/>
            <a:ext cx="4781550" cy="428625"/>
          </a:xfrm>
          <a:prstGeom prst="roundRect">
            <a:avLst>
              <a:gd name="adj" fmla="val 1777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85825" y="3576637"/>
            <a:ext cx="4781550" cy="428625"/>
          </a:xfrm>
          <a:prstGeom prst="roundRect">
            <a:avLst>
              <a:gd name="adj" fmla="val 1777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85825" y="4138612"/>
            <a:ext cx="4781550" cy="428625"/>
          </a:xfrm>
          <a:prstGeom prst="roundRect">
            <a:avLst>
              <a:gd name="adj" fmla="val 1777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85825" y="4700587"/>
            <a:ext cx="4781550" cy="428625"/>
          </a:xfrm>
          <a:prstGeom prst="roundRect">
            <a:avLst>
              <a:gd name="adj" fmla="val 1777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4625" y="3121818"/>
            <a:ext cx="4781550" cy="3429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ANÁLISIS ESPACIAL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Puntos Críticos por Distritos de Madrid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825" y="2605087"/>
            <a:ext cx="6275784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Distritos con Mayor Concentración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4625" y="3617118"/>
            <a:ext cx="56673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Patrón de Centralidad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4625" y="3969543"/>
            <a:ext cx="487680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La mayor frecuencia de accidentes ocurre en la almendra central debido al volumen vehicular, mientras que las colisiones de mayor velocidad se desplazan hacia vías perimetrales.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125" y="3128962"/>
            <a:ext cx="107632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1. CENTRO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29050" y="3143250"/>
            <a:ext cx="2155031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Alta densidad de atropellos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0125" y="3690937"/>
            <a:ext cx="13716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2. HORTALEZA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2350" y="3705225"/>
            <a:ext cx="2488406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Colisiones en vías rápidas (M-11)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0125" y="4252912"/>
            <a:ext cx="12763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3. CHAMBERÍ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1375" y="4267200"/>
            <a:ext cx="27146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Siniestralidad en grandes avenidas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0125" y="4814887"/>
            <a:ext cx="167878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4. CARABANCHEL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00425" y="4829175"/>
            <a:ext cx="269081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Intersecciones urbanas complejas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914650"/>
            <a:ext cx="3505200" cy="1943100"/>
          </a:xfrm>
          <a:prstGeom prst="roundRect">
            <a:avLst>
              <a:gd name="adj" fmla="val 784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2914650"/>
            <a:ext cx="3505200" cy="1943100"/>
          </a:xfrm>
          <a:prstGeom prst="roundRect">
            <a:avLst>
              <a:gd name="adj" fmla="val 784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2914650"/>
            <a:ext cx="3505200" cy="1943100"/>
          </a:xfrm>
          <a:prstGeom prst="roundRect">
            <a:avLst>
              <a:gd name="adj" fmla="val 784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228975"/>
            <a:ext cx="228600" cy="228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7725" y="3228975"/>
            <a:ext cx="228600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1525" y="3228975"/>
            <a:ext cx="228600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MODELADO PREDICTIVO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Modelo Logístico: AlcoholLogisticModel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3609975"/>
            <a:ext cx="3775471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Variables de Entrada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3943350"/>
            <a:ext cx="29718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Franja horaria, rango de edad, tipo de vehículo y distrito de ocurrencia.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57725" y="3609975"/>
            <a:ext cx="3775471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Objetivo del Modelo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7725" y="3943350"/>
            <a:ext cx="297180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Clasificación binaria de probabilidad de positivo en prueba de alcohol en el siniestro.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1525" y="3609975"/>
            <a:ext cx="3775471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Evaluación con Scikit-Learn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1525" y="3943350"/>
            <a:ext cx="297180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División `train_test_split` estratificada para validar capacidad explicativa de factores nocturnos.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4195762"/>
            <a:ext cx="10972800" cy="1114425"/>
          </a:xfrm>
          <a:prstGeom prst="roundRect">
            <a:avLst>
              <a:gd name="adj" fmla="val 1196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424112"/>
            <a:ext cx="2600325" cy="1543050"/>
          </a:xfrm>
          <a:prstGeom prst="roundRect">
            <a:avLst>
              <a:gd name="adj" fmla="val 864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400425" y="2424112"/>
            <a:ext cx="2600325" cy="1543050"/>
          </a:xfrm>
          <a:prstGeom prst="roundRect">
            <a:avLst>
              <a:gd name="adj" fmla="val 864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191250" y="2424112"/>
            <a:ext cx="2600325" cy="1543050"/>
          </a:xfrm>
          <a:prstGeom prst="roundRect">
            <a:avLst>
              <a:gd name="adj" fmla="val 864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982075" y="2424112"/>
            <a:ext cx="2600325" cy="1543050"/>
          </a:xfrm>
          <a:prstGeom prst="roundRect">
            <a:avLst>
              <a:gd name="adj" fmla="val 864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4524375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037" y="4648200"/>
            <a:ext cx="180975" cy="2095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EVALUACIÓN DEL MODELO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Métricas de Rendimiento y Validación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4590" y="2662237"/>
            <a:ext cx="2750343" cy="4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850" b="1" i="0" u="none">
                <a:solidFill>
                  <a:srgbClr val="2563EB"/>
                </a:solidFill>
                <a:latin typeface="Plus Jakarta Sans"/>
              </a:rPr>
              <a:t>84,2%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5832" y="3148012"/>
            <a:ext cx="288786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Plus Jakarta Sans"/>
              </a:rPr>
              <a:t>Accuracy Global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4590" y="3386137"/>
            <a:ext cx="2750343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Plus Jakarta Sans"/>
              </a:rPr>
              <a:t>Acierto general sobre conjunto test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25415" y="2662237"/>
            <a:ext cx="2750343" cy="4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850" b="1" i="0" u="none">
                <a:solidFill>
                  <a:srgbClr val="16A34A"/>
                </a:solidFill>
                <a:latin typeface="Plus Jakarta Sans"/>
              </a:rPr>
              <a:t>0,88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56657" y="3148012"/>
            <a:ext cx="288786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Plus Jakarta Sans"/>
              </a:rPr>
              <a:t>Área ROC-AUC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25415" y="3386137"/>
            <a:ext cx="2750343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Plus Jakarta Sans"/>
              </a:rPr>
              <a:t>Capacidad de discriminación de clases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16240" y="2662237"/>
            <a:ext cx="2750343" cy="4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850" b="1" i="0" u="none">
                <a:solidFill>
                  <a:srgbClr val="0284C7"/>
                </a:solidFill>
                <a:latin typeface="Plus Jakarta Sans"/>
              </a:rPr>
              <a:t>78,5%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47482" y="3148012"/>
            <a:ext cx="288786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Plus Jakarta Sans"/>
              </a:rPr>
              <a:t>Precisión (Positivos)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16240" y="3386137"/>
            <a:ext cx="2750343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Plus Jakarta Sans"/>
              </a:rPr>
              <a:t>Fiabilidad en detección de alcoholemia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07065" y="2662237"/>
            <a:ext cx="2750343" cy="4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850" b="1" i="0" u="none">
                <a:solidFill>
                  <a:srgbClr val="9333EA"/>
                </a:solidFill>
                <a:latin typeface="Plus Jakarta Sans"/>
              </a:rPr>
              <a:t>81,0%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38307" y="3148012"/>
            <a:ext cx="288786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Plus Jakarta Sans"/>
              </a:rPr>
              <a:t>Recall / Sensibilidad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07065" y="3386137"/>
            <a:ext cx="2750343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Plus Jakarta Sans"/>
              </a:rPr>
              <a:t>Captura de casos positivos reales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9725" y="4433887"/>
            <a:ext cx="105822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Conclusión de Validación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9725" y="4672012"/>
            <a:ext cx="97536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El modelo demuestra una sólida capacidad predictiva para identificar factores de alcoholemia, minimizando falsos negativos en franjas nocturnas.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319337"/>
            <a:ext cx="7102822" cy="3095625"/>
          </a:xfrm>
          <a:prstGeom prst="roundRect">
            <a:avLst>
              <a:gd name="adj" fmla="val 492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055322" y="2876550"/>
            <a:ext cx="3527077" cy="1981200"/>
          </a:xfrm>
          <a:prstGeom prst="roundRect">
            <a:avLst>
              <a:gd name="adj" fmla="val 673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85825" y="3214687"/>
            <a:ext cx="6550372" cy="9525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85825" y="3671887"/>
            <a:ext cx="6550372" cy="9525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85825" y="4129087"/>
            <a:ext cx="6550372" cy="9525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85825" y="4586287"/>
            <a:ext cx="6550372" cy="9525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85825" y="5043487"/>
            <a:ext cx="6550372" cy="9525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85825" y="3214687"/>
            <a:ext cx="6222801" cy="952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85825" y="3671887"/>
            <a:ext cx="5109269" cy="9525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85825" y="4129087"/>
            <a:ext cx="4061221" cy="95250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85825" y="4586287"/>
            <a:ext cx="3406080" cy="95250"/>
          </a:xfrm>
          <a:prstGeom prst="roundRect">
            <a:avLst>
              <a:gd name="adj" fmla="val 50000"/>
            </a:avLst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85825" y="5043487"/>
            <a:ext cx="2751087" cy="95250"/>
          </a:xfrm>
          <a:prstGeom prst="roundRect">
            <a:avLst>
              <a:gd name="adj" fmla="val 50000"/>
            </a:avLst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1547" y="3152775"/>
            <a:ext cx="381000" cy="3810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509" y="3248025"/>
            <a:ext cx="219075" cy="1905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EXPLICABILIDAD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Importancia de Variables y Coeficientes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5825" y="2595562"/>
            <a:ext cx="859736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Impacto Relativo en el Modelo (Odds Ratio)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1547" y="3686175"/>
            <a:ext cx="386045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Factor Determinante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1547" y="3981450"/>
            <a:ext cx="3069877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La franja de madrugada y la coincidencia con fin de semana son los predictores con mayor peso estadístico en el modelo.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5825" y="2986087"/>
            <a:ext cx="316706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E293B"/>
                </a:solidFill>
                <a:latin typeface="Plus Jakarta Sans"/>
              </a:rPr>
              <a:t>Franja Horaria Nocturna (00:00 - 06:00)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55197" y="2986087"/>
            <a:ext cx="6667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+2.4x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5825" y="3443287"/>
            <a:ext cx="2607468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E293B"/>
                </a:solidFill>
                <a:latin typeface="Plus Jakarta Sans"/>
              </a:rPr>
              <a:t>Día de la Semana (Fin de Semana)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83772" y="3443287"/>
            <a:ext cx="6381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+1.9x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5825" y="3900487"/>
            <a:ext cx="29051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E293B"/>
                </a:solidFill>
                <a:latin typeface="Plus Jakarta Sans"/>
              </a:rPr>
              <a:t>Tipo de Vehículo (Turismo / Particular)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74247" y="3900487"/>
            <a:ext cx="6477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+1.5x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5825" y="4357687"/>
            <a:ext cx="2083593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E293B"/>
                </a:solidFill>
                <a:latin typeface="Plus Jakarta Sans"/>
              </a:rPr>
              <a:t>Rango de Edad (&lt; 30 años)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74247" y="4357687"/>
            <a:ext cx="6477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+1.3x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5825" y="4814887"/>
            <a:ext cx="2321718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E293B"/>
                </a:solidFill>
                <a:latin typeface="Plus Jakarta Sans"/>
              </a:rPr>
              <a:t>Ubicación (Almendra Central)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02822" y="4814887"/>
            <a:ext cx="6191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+1.1x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4772025"/>
            <a:ext cx="10668000" cy="6762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2000" y="2371725"/>
            <a:ext cx="3403550" cy="2019300"/>
          </a:xfrm>
          <a:prstGeom prst="roundRect">
            <a:avLst>
              <a:gd name="adj" fmla="val 7547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394150" y="2371725"/>
            <a:ext cx="3403550" cy="2019300"/>
          </a:xfrm>
          <a:prstGeom prst="roundRect">
            <a:avLst>
              <a:gd name="adj" fmla="val 7547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26300" y="2371725"/>
            <a:ext cx="3403550" cy="2019300"/>
          </a:xfrm>
          <a:prstGeom prst="roundRect">
            <a:avLst>
              <a:gd name="adj" fmla="val 7547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62000" y="4772025"/>
            <a:ext cx="106680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610725" y="5048250"/>
            <a:ext cx="1819275" cy="400050"/>
          </a:xfrm>
          <a:prstGeom prst="roundRect">
            <a:avLst>
              <a:gd name="adj" fmla="val 23809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25" y="2647950"/>
            <a:ext cx="419100" cy="4191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2275" y="2647950"/>
            <a:ext cx="419100" cy="4191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4425" y="2647950"/>
            <a:ext cx="419100" cy="4191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4425" y="2762250"/>
            <a:ext cx="190500" cy="190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9912" y="2762250"/>
            <a:ext cx="123825" cy="1905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78725" y="2762250"/>
            <a:ext cx="190500" cy="1905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62000" y="1409700"/>
            <a:ext cx="114300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0A5FA"/>
                </a:solidFill>
                <a:latin typeface="Plus Jakarta Sans"/>
              </a:rPr>
              <a:t>SÍNTESIS Y ACCIÓN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1638300"/>
            <a:ext cx="114300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FFFFFF"/>
                </a:solidFill>
                <a:latin typeface="Plus Jakarta Sans"/>
              </a:rPr>
              <a:t>Conclusiones y Recomendaciones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39325" y="5162550"/>
            <a:ext cx="145732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FFFFF"/>
                </a:solidFill>
                <a:latin typeface="Plus Jakarta Sans"/>
              </a:rPr>
              <a:t>Fin de la Presentación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0125" y="3219450"/>
            <a:ext cx="3842081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Plus Jakarta Sans"/>
              </a:rPr>
              <a:t>Controles Preventivos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0125" y="3514725"/>
            <a:ext cx="30225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94A3B8"/>
                </a:solidFill>
                <a:latin typeface="Plus Jakarta Sans"/>
              </a:rPr>
              <a:t>Focalizar controles de alcoholemia en fines de semana durante la franja de 00:00 a 06:00.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32275" y="3219450"/>
            <a:ext cx="3842081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Plus Jakarta Sans"/>
              </a:rPr>
              <a:t>Protección Peatonal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32275" y="3514725"/>
            <a:ext cx="30225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94A3B8"/>
                </a:solidFill>
                <a:latin typeface="Plus Jakarta Sans"/>
              </a:rPr>
              <a:t>Reforzar la seguridad vial y calma de tráfico en cruces neurálgicos del distrito Centro.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4425" y="3219450"/>
            <a:ext cx="3842081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Plus Jakarta Sans"/>
              </a:rPr>
              <a:t>Despliegue Predictivo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64425" y="3514725"/>
            <a:ext cx="30225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94A3B8"/>
                </a:solidFill>
                <a:latin typeface="Plus Jakarta Sans"/>
              </a:rPr>
              <a:t>Integrar el modelo `AlcoholLogisticModel` para la asignación dinámica de patrullas.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2000" y="5053012"/>
            <a:ext cx="407193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Plus Jakarta Sans"/>
              </a:rPr>
              <a:t>¿Preguntas o Comentarios?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2000" y="5272087"/>
            <a:ext cx="407193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Análisis de Seguridad Vial — Ayuntamiento de Madrid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875</Words>
  <Application>Microsoft Office PowerPoint</Application>
  <PresentationFormat>Panorámica</PresentationFormat>
  <Paragraphs>147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Arial</vt:lpstr>
      <vt:lpstr>Plus Jakarta Sans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Francisco Blázquez Hidalgo</dc:creator>
  <cp:keywords/>
  <dc:description>generated using python-pptx</dc:description>
  <cp:lastModifiedBy>Francisco Blázquez Hidalgo</cp:lastModifiedBy>
  <cp:revision>1</cp:revision>
  <dcterms:created xsi:type="dcterms:W3CDTF">2013-01-27T09:14:16Z</dcterms:created>
  <dcterms:modified xsi:type="dcterms:W3CDTF">2026-09-24T08:46:55Z</dcterms:modified>
  <cp:category/>
</cp:coreProperties>
</file>